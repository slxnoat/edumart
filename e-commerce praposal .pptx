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098CDE3-D339-4AB4-86ED-4EAB6B750B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9A53652-F32F-4592-8378-F6BA3CDE605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1D53A42-42D9-437B-BBFC-05E545F3F52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2D92F74-1342-4477-9D32-8DFE79A352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62A4047-8E92-4B63-99E8-89B21401573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773DCB6-8838-416C-92F3-78F552E41E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EBA0D42-9B46-42B9-8A0D-01F505577DF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E5F8663-7AC8-4686-85D6-149840F5B0B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86AD673-7E5A-4922-951F-39B896BD061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2C4E12D-C5A7-4E46-A0B6-2B7A6444D0B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91CA9EB-C707-4D0D-85F5-796B838B3F0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D571BE2-FF30-47C0-A933-CA6076FC6BA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18B8EB6-3A1A-49FD-A970-392A9E3E023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6216276-980E-46B0-8114-6A6B7A0E18D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B9739C5-A7E3-4F4F-B72F-68590CB1480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AE0A8AD-A79B-4521-9502-B44C4F9BAA8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56E7B5F-B48B-49B4-BAD9-3FFB63CCE3F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201C123-BA25-4B91-83BA-4608D3DBD83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3C041FE-3165-4D4D-AAA0-5C8BEE52755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1828800"/>
            <a:ext cx="6400440" cy="6400440"/>
          </a:xfrm>
          <a:prstGeom prst="ellipse">
            <a:avLst/>
          </a:prstGeom>
          <a:solidFill>
            <a:srgbClr val="6D28D9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286000" y="4114800"/>
            <a:ext cx="5486040" cy="5486040"/>
          </a:xfrm>
          <a:prstGeom prst="ellipse">
            <a:avLst/>
          </a:prstGeom>
          <a:solidFill>
            <a:srgbClr val="F59E0B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5544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PROJECT </a:t>
            </a: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PROPOSAL </a:t>
            </a: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PRESENTATI</a:t>
            </a:r>
            <a:r>
              <a:rPr lang="en-US" sz="1300" b="1" u="none" spc="30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ON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77240" y="1965960"/>
            <a:ext cx="9143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154680"/>
            <a:ext cx="8960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—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7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822960" y="3977640"/>
            <a:ext cx="2926080" cy="360"/>
          </a:xfrm>
          <a:prstGeom prst="line">
            <a:avLst/>
          </a:prstGeom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4251960"/>
            <a:ext cx="7772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Group Size: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5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Members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Platform Type: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Web-Based E-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Commerce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Platform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Stack: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React.js  • 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Node.js / Express  • </a:t>
            </a:r>
            <a:r>
              <a:rPr lang="en-US" sz="13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 MySQL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22960" y="61264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7D2FE"/>
                </a:solidFill>
                <a:effectLst/>
                <a:uFillTx/>
                <a:latin typeface="Calibri"/>
                <a:ea typeface="Calibri"/>
              </a:rPr>
              <a:t>12 July 2026  •  </a:t>
            </a:r>
            <a:r>
              <a:rPr lang="en-US" sz="1100" b="0" u="none" strike="noStrike">
                <a:solidFill>
                  <a:srgbClr val="C7D2FE"/>
                </a:solidFill>
                <a:effectLst/>
                <a:uFillTx/>
                <a:latin typeface="Calibri"/>
                <a:ea typeface="Calibri"/>
              </a:rPr>
              <a:t>Project Proposal Viva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548640" y="15087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338CA"/>
                </a:solidFill>
                <a:effectLst/>
                <a:uFillTx/>
                <a:latin typeface="Calibri"/>
                <a:ea typeface="Calibri"/>
              </a:rPr>
              <a:t>What is </a:t>
            </a:r>
            <a:r>
              <a:rPr lang="en-US" sz="1500" b="1" u="none" strike="noStrike">
                <a:solidFill>
                  <a:srgbClr val="4338CA"/>
                </a:solidFill>
                <a:effectLst/>
                <a:uFillTx/>
                <a:latin typeface="Calibri"/>
                <a:ea typeface="Calibri"/>
              </a:rPr>
              <a:t>EduMart?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548640" y="1920240"/>
            <a:ext cx="54860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EduMart is a web-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based e-commerce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platform that lets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students, tutors,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and institutes buy,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sell, and access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learning materials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in one place —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past papers, e-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books, model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papers, revision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notes, and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recorded lecture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packs, across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school, A/L and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university levels.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548640" y="379476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338CA"/>
                </a:solidFill>
                <a:effectLst/>
                <a:uFillTx/>
                <a:latin typeface="Calibri"/>
                <a:ea typeface="Calibri"/>
              </a:rPr>
              <a:t>Problem </a:t>
            </a:r>
            <a:r>
              <a:rPr lang="en-US" sz="1500" b="1" u="none" strike="noStrike">
                <a:solidFill>
                  <a:srgbClr val="4338CA"/>
                </a:solidFill>
                <a:effectLst/>
                <a:uFillTx/>
                <a:latin typeface="Calibri"/>
                <a:ea typeface="Calibri"/>
              </a:rPr>
              <a:t>Statement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548640" y="4206240"/>
            <a:ext cx="54860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37415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—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37415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)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5000"/>
              </a:lnSpc>
              <a:spcAft>
                <a:spcPts val="799"/>
              </a:spcAft>
              <a:buClr>
                <a:srgbClr val="374151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6537960" y="1508760"/>
            <a:ext cx="5074560" cy="4708800"/>
          </a:xfrm>
          <a:prstGeom prst="roundRect">
            <a:avLst>
              <a:gd name="adj" fmla="val 2330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903720" y="187452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7818120" y="18928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Material Types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9"/>
          <p:cNvSpPr/>
          <p:nvPr/>
        </p:nvSpPr>
        <p:spPr>
          <a:xfrm>
            <a:off x="7818120" y="222192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E-books, notes, past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papers &amp; video packs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6903720" y="310896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7818120" y="31273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7818120" y="345636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Students (buyers) &amp; Tutors (sellers)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6903720" y="4343400"/>
            <a:ext cx="914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7818120" y="43617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Unified Platform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7818120" y="4690800"/>
            <a:ext cx="3565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Browse, purchase, 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download &amp; 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6903720" y="5532120"/>
            <a:ext cx="4480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“One trusted </a:t>
            </a:r>
            <a:r>
              <a:rPr lang="en-US" sz="1150" b="0" i="1" u="none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marketplace for every </a:t>
            </a:r>
            <a:r>
              <a:rPr lang="en-US" sz="1150" b="0" i="1" u="none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learning resource.”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</a:t>
            </a: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LEARNING MATERIAL </a:t>
            </a: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F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Pl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tf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&amp;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548640" y="1600200"/>
            <a:ext cx="3382920" cy="4480200"/>
          </a:xfrm>
          <a:prstGeom prst="roundRect">
            <a:avLst>
              <a:gd name="adj" fmla="val 2703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3"/>
          <p:cNvSpPr/>
          <p:nvPr/>
        </p:nvSpPr>
        <p:spPr>
          <a:xfrm>
            <a:off x="868680" y="18745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 </a:t>
            </a: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Application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868680" y="2377440"/>
            <a:ext cx="2788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Responsive React.js web platform, accessible on desktop, tablet and </a:t>
            </a:r>
            <a:r>
              <a:rPr lang="en-US" sz="115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mobile browsers — no separate app install required.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868680" y="40233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Why Web First?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68680" y="438912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Faster to build &amp; test </a:t>
            </a:r>
            <a:r>
              <a:rPr lang="en-US" sz="108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across 5 modules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868680" y="489204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Easy PDF/video preview in-browser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68680" y="539496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One codebase for all devices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9"/>
          <p:cNvSpPr/>
          <p:nvPr/>
        </p:nvSpPr>
        <p:spPr>
          <a:xfrm>
            <a:off x="4251960" y="1600200"/>
            <a:ext cx="3565800" cy="2057040"/>
          </a:xfrm>
          <a:prstGeom prst="roundRect">
            <a:avLst>
              <a:gd name="adj" fmla="val 4444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4480560" y="182880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448056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5074920" y="1801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Students (A/L &amp; University)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4480560" y="23774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Search, preview, purchase and download notes, past papers and e-books for exam preparation.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8138160" y="1600200"/>
            <a:ext cx="3565800" cy="2057040"/>
          </a:xfrm>
          <a:prstGeom prst="roundRect">
            <a:avLst>
              <a:gd name="adj" fmla="val 4444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8366760" y="182880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8366760" y="1828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8961120" y="1801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School / Tuition Students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8366760" y="23774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Buy affordable model papers and revision material recommended by their tutors.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4251960" y="3886200"/>
            <a:ext cx="3565800" cy="2057040"/>
          </a:xfrm>
          <a:prstGeom prst="roundRect">
            <a:avLst>
              <a:gd name="adj" fmla="val 4444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Shape 20"/>
          <p:cNvSpPr/>
          <p:nvPr/>
        </p:nvSpPr>
        <p:spPr>
          <a:xfrm>
            <a:off x="4480560" y="411480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4480560" y="4114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5074920" y="4087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Tutors &amp; Content Creators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4480560" y="46634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Register as sellers, upload original material, and track sales through their dashboard.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4"/>
          <p:cNvSpPr/>
          <p:nvPr/>
        </p:nvSpPr>
        <p:spPr>
          <a:xfrm>
            <a:off x="8138160" y="3886200"/>
            <a:ext cx="3565800" cy="2057040"/>
          </a:xfrm>
          <a:prstGeom prst="roundRect">
            <a:avLst>
              <a:gd name="adj" fmla="val 4444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Shape 25"/>
          <p:cNvSpPr/>
          <p:nvPr/>
        </p:nvSpPr>
        <p:spPr>
          <a:xfrm>
            <a:off x="8366760" y="411480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8366760" y="4114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7"/>
          <p:cNvSpPr/>
          <p:nvPr/>
        </p:nvSpPr>
        <p:spPr>
          <a:xfrm>
            <a:off x="8961120" y="40874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Institutes / Bookshops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8"/>
          <p:cNvSpPr/>
          <p:nvPr/>
        </p:nvSpPr>
        <p:spPr>
          <a:xfrm>
            <a:off x="8366760" y="4663440"/>
            <a:ext cx="310860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List bulk study packs and printed material with delivery tracking.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OBJECTIVES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Main Objectives &amp; Expected Outcomes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48640" y="16002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777240" y="18014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4"/>
          <p:cNvSpPr/>
          <p:nvPr/>
        </p:nvSpPr>
        <p:spPr>
          <a:xfrm>
            <a:off x="77724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777240" y="24231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Centralized Marketplace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"/>
          <p:cNvSpPr/>
          <p:nvPr/>
        </p:nvSpPr>
        <p:spPr>
          <a:xfrm>
            <a:off x="777240" y="277056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Build one platform where verified learning material can be listed, discovered and purchased securely.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7"/>
          <p:cNvSpPr/>
          <p:nvPr/>
        </p:nvSpPr>
        <p:spPr>
          <a:xfrm>
            <a:off x="4389120" y="16002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Shape 8"/>
          <p:cNvSpPr/>
          <p:nvPr/>
        </p:nvSpPr>
        <p:spPr>
          <a:xfrm>
            <a:off x="4617720" y="18014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 9"/>
          <p:cNvSpPr/>
          <p:nvPr/>
        </p:nvSpPr>
        <p:spPr>
          <a:xfrm>
            <a:off x="461772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4617720" y="24231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Multi-Format Support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4617720" y="277056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Support digital downloads (PDF/video) and printed material with delivery tracking, in a single cart.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8229600" y="160020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8458200" y="18014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845820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8458200" y="242316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Seller Empowerment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8458200" y="277056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Give tutors an easy way to publish content, manage listings and view sales analytics.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7"/>
          <p:cNvSpPr/>
          <p:nvPr/>
        </p:nvSpPr>
        <p:spPr>
          <a:xfrm>
            <a:off x="548640" y="384048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Shape 18"/>
          <p:cNvSpPr/>
          <p:nvPr/>
        </p:nvSpPr>
        <p:spPr>
          <a:xfrm>
            <a:off x="777240" y="40417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19"/>
          <p:cNvSpPr/>
          <p:nvPr/>
        </p:nvSpPr>
        <p:spPr>
          <a:xfrm>
            <a:off x="777240" y="4041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777240" y="46634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Trust &amp; Quality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777240" y="50108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Use ratings, reviews and an admin approval flow to keep material quality high.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2"/>
          <p:cNvSpPr/>
          <p:nvPr/>
        </p:nvSpPr>
        <p:spPr>
          <a:xfrm>
            <a:off x="4389120" y="384048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23"/>
          <p:cNvSpPr/>
          <p:nvPr/>
        </p:nvSpPr>
        <p:spPr>
          <a:xfrm>
            <a:off x="4617720" y="40417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4617720" y="4041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4617720" y="46634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Smart Discovery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6"/>
          <p:cNvSpPr/>
          <p:nvPr/>
        </p:nvSpPr>
        <p:spPr>
          <a:xfrm>
            <a:off x="4617720" y="50108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Help students find the right resource quickly with search, filters and recommendations.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7"/>
          <p:cNvSpPr/>
          <p:nvPr/>
        </p:nvSpPr>
        <p:spPr>
          <a:xfrm>
            <a:off x="8229600" y="3840480"/>
            <a:ext cx="3611520" cy="1965600"/>
          </a:xfrm>
          <a:prstGeom prst="roundRect">
            <a:avLst>
              <a:gd name="adj" fmla="val 4651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28"/>
          <p:cNvSpPr/>
          <p:nvPr/>
        </p:nvSpPr>
        <p:spPr>
          <a:xfrm>
            <a:off x="8458200" y="40417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29"/>
          <p:cNvSpPr/>
          <p:nvPr/>
        </p:nvSpPr>
        <p:spPr>
          <a:xfrm>
            <a:off x="8458200" y="4041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0"/>
          <p:cNvSpPr/>
          <p:nvPr/>
        </p:nvSpPr>
        <p:spPr>
          <a:xfrm>
            <a:off x="8458200" y="4663440"/>
            <a:ext cx="315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Reliable Transactions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1"/>
          <p:cNvSpPr/>
          <p:nvPr/>
        </p:nvSpPr>
        <p:spPr>
          <a:xfrm>
            <a:off x="8458200" y="5010840"/>
            <a:ext cx="3154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Provide secure payments, order history and instant notifications for every purchase.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3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PROPOSED FEATURES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Core Functionalities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548640" y="148140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713160" y="168264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1005840" y="148140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User Authentication (Student / Tutor / Admin roles)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5"/>
          <p:cNvSpPr/>
          <p:nvPr/>
        </p:nvSpPr>
        <p:spPr>
          <a:xfrm>
            <a:off x="6263640" y="148140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6428160" y="168264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6720840" y="148140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Product (Study Material) Catalog with categories &amp; subjects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548640" y="209412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Shape 9"/>
          <p:cNvSpPr/>
          <p:nvPr/>
        </p:nvSpPr>
        <p:spPr>
          <a:xfrm>
            <a:off x="713160" y="229500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1005840" y="209412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Search &amp; Filtering by subject, grade, exam year, price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1"/>
          <p:cNvSpPr/>
          <p:nvPr/>
        </p:nvSpPr>
        <p:spPr>
          <a:xfrm>
            <a:off x="6263640" y="209412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6428160" y="229500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6720840" y="209412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Shopping Cart &amp; Multi-item Checkout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548640" y="270648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713160" y="290772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 16"/>
          <p:cNvSpPr/>
          <p:nvPr/>
        </p:nvSpPr>
        <p:spPr>
          <a:xfrm>
            <a:off x="1005840" y="270648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Secure Payment Gateway Integration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6263640" y="270648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6428160" y="290772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6720840" y="270648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Order Management &amp; Purchase History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548640" y="331920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713160" y="352044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22"/>
          <p:cNvSpPr/>
          <p:nvPr/>
        </p:nvSpPr>
        <p:spPr>
          <a:xfrm>
            <a:off x="1005840" y="331920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Digital Delivery — instant download links for e-materials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3"/>
          <p:cNvSpPr/>
          <p:nvPr/>
        </p:nvSpPr>
        <p:spPr>
          <a:xfrm>
            <a:off x="6263640" y="331920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Shape 24"/>
          <p:cNvSpPr/>
          <p:nvPr/>
        </p:nvSpPr>
        <p:spPr>
          <a:xfrm>
            <a:off x="6428160" y="352044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6720840" y="331920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Physical Delivery Tracking for printed material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548640" y="393192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Shape 27"/>
          <p:cNvSpPr/>
          <p:nvPr/>
        </p:nvSpPr>
        <p:spPr>
          <a:xfrm>
            <a:off x="713160" y="413316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28"/>
          <p:cNvSpPr/>
          <p:nvPr/>
        </p:nvSpPr>
        <p:spPr>
          <a:xfrm>
            <a:off x="1005840" y="393192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Review &amp; Rating System for each material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9"/>
          <p:cNvSpPr/>
          <p:nvPr/>
        </p:nvSpPr>
        <p:spPr>
          <a:xfrm>
            <a:off x="6263640" y="393192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30"/>
          <p:cNvSpPr/>
          <p:nvPr/>
        </p:nvSpPr>
        <p:spPr>
          <a:xfrm>
            <a:off x="6428160" y="413316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6720840" y="393192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Notification System — email/SMS order &amp; upload alerts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2"/>
          <p:cNvSpPr/>
          <p:nvPr/>
        </p:nvSpPr>
        <p:spPr>
          <a:xfrm>
            <a:off x="548640" y="454464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Shape 33"/>
          <p:cNvSpPr/>
          <p:nvPr/>
        </p:nvSpPr>
        <p:spPr>
          <a:xfrm>
            <a:off x="713160" y="474588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34"/>
          <p:cNvSpPr/>
          <p:nvPr/>
        </p:nvSpPr>
        <p:spPr>
          <a:xfrm>
            <a:off x="1005840" y="454464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Admin Dashboard — approve listings, manage users &amp; orders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5"/>
          <p:cNvSpPr/>
          <p:nvPr/>
        </p:nvSpPr>
        <p:spPr>
          <a:xfrm>
            <a:off x="6263640" y="454464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Shape 36"/>
          <p:cNvSpPr/>
          <p:nvPr/>
        </p:nvSpPr>
        <p:spPr>
          <a:xfrm>
            <a:off x="6428160" y="474588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6720840" y="454464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Seller (Tutor) Dashboard — uploads, sales &amp; earnings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8"/>
          <p:cNvSpPr/>
          <p:nvPr/>
        </p:nvSpPr>
        <p:spPr>
          <a:xfrm>
            <a:off x="548640" y="515736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Shape 39"/>
          <p:cNvSpPr/>
          <p:nvPr/>
        </p:nvSpPr>
        <p:spPr>
          <a:xfrm>
            <a:off x="713160" y="535824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40"/>
          <p:cNvSpPr/>
          <p:nvPr/>
        </p:nvSpPr>
        <p:spPr>
          <a:xfrm>
            <a:off x="1005840" y="515736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AI Chatbot — 24/7 instant help, FAQs &amp; order status queries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1"/>
          <p:cNvSpPr/>
          <p:nvPr/>
        </p:nvSpPr>
        <p:spPr>
          <a:xfrm>
            <a:off x="6263640" y="5157360"/>
            <a:ext cx="5440320" cy="566640"/>
          </a:xfrm>
          <a:prstGeom prst="roundRect">
            <a:avLst>
              <a:gd name="adj" fmla="val 12903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Shape 42"/>
          <p:cNvSpPr/>
          <p:nvPr/>
        </p:nvSpPr>
        <p:spPr>
          <a:xfrm>
            <a:off x="6428160" y="5358240"/>
            <a:ext cx="164160" cy="164160"/>
          </a:xfrm>
          <a:prstGeom prst="ellipse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43"/>
          <p:cNvSpPr/>
          <p:nvPr/>
        </p:nvSpPr>
        <p:spPr>
          <a:xfrm>
            <a:off x="6720840" y="515736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Coupon &amp; Discount Management for promotions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4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45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9875520" y="4754880"/>
            <a:ext cx="4571640" cy="4571640"/>
          </a:xfrm>
          <a:prstGeom prst="ellipse">
            <a:avLst/>
          </a:prstGeom>
          <a:solidFill>
            <a:srgbClr val="6D28D9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ADDITIONAL FEATURES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Innovative Features That Set Us Apart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3"/>
          <p:cNvSpPr/>
          <p:nvPr/>
        </p:nvSpPr>
        <p:spPr>
          <a:xfrm>
            <a:off x="548640" y="1508760"/>
            <a:ext cx="3565800" cy="214848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 4"/>
          <p:cNvSpPr/>
          <p:nvPr/>
        </p:nvSpPr>
        <p:spPr>
          <a:xfrm>
            <a:off x="777240" y="16916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777240" y="210312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AI-Based Recommendations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777240" y="260604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Suggests related past papers, notes &amp; courses based on browsing and purchase history.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4343400" y="1508760"/>
            <a:ext cx="3565800" cy="214848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4572000" y="16916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4572000" y="210312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Free Preview Pages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4572000" y="260604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Watermarked sample pages / video trailer before purchase to build buyer confidence.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1"/>
          <p:cNvSpPr/>
          <p:nvPr/>
        </p:nvSpPr>
        <p:spPr>
          <a:xfrm>
            <a:off x="8138160" y="1508760"/>
            <a:ext cx="3565800" cy="214848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12"/>
          <p:cNvSpPr/>
          <p:nvPr/>
        </p:nvSpPr>
        <p:spPr>
          <a:xfrm>
            <a:off x="8366760" y="169164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8366760" y="210312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Wishlist &amp; Save for Later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4"/>
          <p:cNvSpPr/>
          <p:nvPr/>
        </p:nvSpPr>
        <p:spPr>
          <a:xfrm>
            <a:off x="8366760" y="260604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Students can bookmark material to buy closer to exam time.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5"/>
          <p:cNvSpPr/>
          <p:nvPr/>
        </p:nvSpPr>
        <p:spPr>
          <a:xfrm>
            <a:off x="548640" y="3886200"/>
            <a:ext cx="3565800" cy="214848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777240" y="40690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777240" y="448056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Bundle Deals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8"/>
          <p:cNvSpPr/>
          <p:nvPr/>
        </p:nvSpPr>
        <p:spPr>
          <a:xfrm>
            <a:off x="777240" y="498348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Auto-generated subject bundles (e.g. "Full A/L Chemistry Pack") at a discount.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9"/>
          <p:cNvSpPr/>
          <p:nvPr/>
        </p:nvSpPr>
        <p:spPr>
          <a:xfrm>
            <a:off x="4343400" y="3886200"/>
            <a:ext cx="3565800" cy="214848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4572000" y="40690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4572000" y="448056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Tutor Verification Badge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2"/>
          <p:cNvSpPr/>
          <p:nvPr/>
        </p:nvSpPr>
        <p:spPr>
          <a:xfrm>
            <a:off x="4572000" y="498348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Admin-verified tutors get a trust badge, boosting buyer confidence.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3"/>
          <p:cNvSpPr/>
          <p:nvPr/>
        </p:nvSpPr>
        <p:spPr>
          <a:xfrm>
            <a:off x="8138160" y="3886200"/>
            <a:ext cx="3565800" cy="2148480"/>
          </a:xfrm>
          <a:prstGeom prst="roundRect">
            <a:avLst>
              <a:gd name="adj" fmla="val 425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8366760" y="406908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8366760" y="448056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Progress Tracker &amp; Certificates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6"/>
          <p:cNvSpPr/>
          <p:nvPr/>
        </p:nvSpPr>
        <p:spPr>
          <a:xfrm>
            <a:off x="8366760" y="4983480"/>
            <a:ext cx="3108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Tracks completed materials per subject and issues a completion certificate.</a:t>
            </a:r>
            <a:endParaRPr lang="en-US" sz="10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7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TECHNOLOGY STACK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Frontend, Backend, Database &amp; Tools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548640" y="1600200"/>
            <a:ext cx="2605680" cy="4480200"/>
          </a:xfrm>
          <a:prstGeom prst="roundRect">
            <a:avLst>
              <a:gd name="adj" fmla="val 350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48640" y="1600200"/>
            <a:ext cx="2605680" cy="594000"/>
          </a:xfrm>
          <a:prstGeom prst="roundRect">
            <a:avLst>
              <a:gd name="adj" fmla="val 15385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548640" y="1920240"/>
            <a:ext cx="2605680" cy="273960"/>
          </a:xfrm>
          <a:prstGeom prst="rect">
            <a:avLst/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713160" y="1600200"/>
            <a:ext cx="227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Frontend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731520" y="23774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React.js (SPA)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731520" y="303588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React Router DOM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731520" y="369432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Redux Toolkit / Context API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731520" y="435240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Tailwind CSS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3383280" y="1600200"/>
            <a:ext cx="2605680" cy="4480200"/>
          </a:xfrm>
          <a:prstGeom prst="roundRect">
            <a:avLst>
              <a:gd name="adj" fmla="val 350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3383280" y="1600200"/>
            <a:ext cx="2605680" cy="594000"/>
          </a:xfrm>
          <a:prstGeom prst="roundRect">
            <a:avLst>
              <a:gd name="adj" fmla="val 15385"/>
            </a:avLst>
          </a:pr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3383280" y="1920240"/>
            <a:ext cx="2605680" cy="273960"/>
          </a:xfrm>
          <a:prstGeom prst="rect">
            <a:avLst/>
          </a:pr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3547800" y="1600200"/>
            <a:ext cx="227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Backend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3566160" y="23774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Node.js + Express.js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3566160" y="303588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REST API architecture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6"/>
          <p:cNvSpPr/>
          <p:nvPr/>
        </p:nvSpPr>
        <p:spPr>
          <a:xfrm>
            <a:off x="3566160" y="369432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JWT Authentication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3566160" y="435240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Multer (file uploads)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8"/>
          <p:cNvSpPr/>
          <p:nvPr/>
        </p:nvSpPr>
        <p:spPr>
          <a:xfrm>
            <a:off x="6217920" y="1600200"/>
            <a:ext cx="2605680" cy="4480200"/>
          </a:xfrm>
          <a:prstGeom prst="roundRect">
            <a:avLst>
              <a:gd name="adj" fmla="val 350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Shape 19"/>
          <p:cNvSpPr/>
          <p:nvPr/>
        </p:nvSpPr>
        <p:spPr>
          <a:xfrm>
            <a:off x="6217920" y="1600200"/>
            <a:ext cx="2605680" cy="59400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6217920" y="1920240"/>
            <a:ext cx="2605680" cy="273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6382440" y="1600200"/>
            <a:ext cx="227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Database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6400800" y="23774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MySQL (Relational DB)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6400800" y="303588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Sequelize ORM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6400800" y="369432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Structured schema for orders &amp; catalog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9052560" y="1600200"/>
            <a:ext cx="2605680" cy="4480200"/>
          </a:xfrm>
          <a:prstGeom prst="roundRect">
            <a:avLst>
              <a:gd name="adj" fmla="val 350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Shape 26"/>
          <p:cNvSpPr/>
          <p:nvPr/>
        </p:nvSpPr>
        <p:spPr>
          <a:xfrm>
            <a:off x="9052560" y="1600200"/>
            <a:ext cx="2605680" cy="59400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Shape 27"/>
          <p:cNvSpPr/>
          <p:nvPr/>
        </p:nvSpPr>
        <p:spPr>
          <a:xfrm>
            <a:off x="9052560" y="1920240"/>
            <a:ext cx="2605680" cy="2739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9217080" y="1600200"/>
            <a:ext cx="2276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APIs / Services / Tools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9235440" y="237744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Stripe / PayHere Payment Gateway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9235440" y="303588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Cloudinary / AWS S3 (file storage)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9235440" y="369432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Nodemailer (email alerts)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9235440" y="4352400"/>
            <a:ext cx="2239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10000"/>
              </a:lnSpc>
              <a:buClr>
                <a:srgbClr val="374151"/>
              </a:buClr>
              <a:buFont typeface="OpenSymbol"/>
              <a:buChar char="▪"/>
            </a:pPr>
            <a:r>
              <a:rPr lang="en-US" sz="108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Git &amp; GitHub, Postman, Figma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DATABASE 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Database Type, Entities &amp; Relationships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548640" y="1554480"/>
            <a:ext cx="3291480" cy="4571640"/>
          </a:xfrm>
          <a:prstGeom prst="roundRect">
            <a:avLst>
              <a:gd name="adj" fmla="val 2778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822960" y="17830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Relational Database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822960" y="2194560"/>
            <a:ext cx="2742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MySQL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822960" y="2880360"/>
            <a:ext cx="2697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Chosen for strong relational integrity between users, orders, payments and catalog items — ideal for a transactional e-commerce system.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822960" y="44805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Main Entities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7"/>
          <p:cNvSpPr/>
          <p:nvPr/>
        </p:nvSpPr>
        <p:spPr>
          <a:xfrm>
            <a:off x="822960" y="48006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Users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822960" y="50565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Materials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822960" y="53125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Categories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0"/>
          <p:cNvSpPr/>
          <p:nvPr/>
        </p:nvSpPr>
        <p:spPr>
          <a:xfrm>
            <a:off x="822960" y="556884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Cart / CartItems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1"/>
          <p:cNvSpPr/>
          <p:nvPr/>
        </p:nvSpPr>
        <p:spPr>
          <a:xfrm>
            <a:off x="822960" y="58248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Orders / OrderItems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822960" y="608076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Payments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822960" y="63367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Reviews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822960" y="659268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• Notifications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5"/>
          <p:cNvSpPr/>
          <p:nvPr/>
        </p:nvSpPr>
        <p:spPr>
          <a:xfrm>
            <a:off x="4206240" y="16002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338CA"/>
                </a:solidFill>
                <a:effectLst/>
                <a:uFillTx/>
                <a:latin typeface="Calibri"/>
                <a:ea typeface="Calibri"/>
              </a:rPr>
              <a:t>Relationships &amp; Data Flow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4206240" y="2011680"/>
            <a:ext cx="74062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20000"/>
              </a:lnSpc>
              <a:spcAft>
                <a:spcPts val="1001"/>
              </a:spcAft>
              <a:buClr>
                <a:srgbClr val="374151"/>
              </a:buClr>
              <a:buFont typeface="Symbol" charset="2"/>
              <a:buChar char=""/>
            </a:pPr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 User (role = Tutor) can list many Materials  →  one-to-many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1001"/>
              </a:spcAft>
              <a:buClr>
                <a:srgbClr val="374151"/>
              </a:buClr>
              <a:buFont typeface="Symbol" charset="2"/>
              <a:buChar char=""/>
            </a:pPr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 User (role = Student) places many Orders  →  one-to-many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1001"/>
              </a:spcAft>
              <a:buClr>
                <a:srgbClr val="374151"/>
              </a:buClr>
              <a:buFont typeface="Symbol" charset="2"/>
              <a:buChar char=""/>
            </a:pPr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An Order contains many OrderItems, each linked to one Material  →  many-to-many via OrderItems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1001"/>
              </a:spcAft>
              <a:buClr>
                <a:srgbClr val="374151"/>
              </a:buClr>
              <a:buFont typeface="Symbol" charset="2"/>
              <a:buChar char=""/>
            </a:pPr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 Payment record links to exactly one Order  →  one-to-one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1001"/>
              </a:spcAft>
              <a:buClr>
                <a:srgbClr val="374151"/>
              </a:buClr>
              <a:buFont typeface="Symbol" charset="2"/>
              <a:buChar char=""/>
            </a:pPr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A Review links one User to one Material, after a completed Order  →  many-to-many via Reviews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20000"/>
              </a:lnSpc>
              <a:spcAft>
                <a:spcPts val="1001"/>
              </a:spcAft>
              <a:buClr>
                <a:srgbClr val="374151"/>
              </a:buClr>
              <a:buFont typeface="Symbol" charset="2"/>
              <a:buChar char=""/>
            </a:pPr>
            <a:r>
              <a:rPr lang="en-US" sz="11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Notifications reference a User and an Order/Material event  →  one-to-many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1"/>
          <p:cNvSpPr/>
          <p:nvPr/>
        </p:nvSpPr>
        <p:spPr>
          <a:xfrm>
            <a:off x="548640" y="195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Entity Relationship Diagram (ERD)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5"/>
          <p:cNvSpPr/>
          <p:nvPr/>
        </p:nvSpPr>
        <p:spPr>
          <a:xfrm>
            <a:off x="457200" y="155448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0"/>
          <p:cNvSpPr/>
          <p:nvPr/>
        </p:nvSpPr>
        <p:spPr>
          <a:xfrm>
            <a:off x="5303520" y="329184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ORDERS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9"/>
          <p:cNvSpPr/>
          <p:nvPr/>
        </p:nvSpPr>
        <p:spPr>
          <a:xfrm>
            <a:off x="457200" y="6172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PK = Primary Key   •   FK = Foreign Key   •   Lines indicate relationships between entities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0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1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Picture 64"/>
          <p:cNvPicPr/>
          <p:nvPr/>
        </p:nvPicPr>
        <p:blipFill>
          <a:blip r:embed="rId1"/>
          <a:stretch/>
        </p:blipFill>
        <p:spPr>
          <a:xfrm>
            <a:off x="1121400" y="1038240"/>
            <a:ext cx="9393840" cy="496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1"/>
          <p:cNvSpPr/>
          <p:nvPr/>
        </p:nvSpPr>
        <p:spPr>
          <a:xfrm>
            <a:off x="548640" y="1461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System Architecture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548640" y="155448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548640" y="265176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/ APPLICATION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3"/>
          <p:cNvSpPr/>
          <p:nvPr/>
        </p:nvSpPr>
        <p:spPr>
          <a:xfrm>
            <a:off x="548640" y="4846320"/>
            <a:ext cx="21942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LAYER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5"/>
          <p:cNvSpPr/>
          <p:nvPr/>
        </p:nvSpPr>
        <p:spPr>
          <a:xfrm>
            <a:off x="548640" y="58064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Request flows top-down (Client → API → Services → Database); responses flow back up as JSON.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6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7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4" name="Picture 30"/>
          <p:cNvPicPr/>
          <p:nvPr/>
        </p:nvPicPr>
        <p:blipFill>
          <a:blip r:embed="rId1"/>
          <a:stretch/>
        </p:blipFill>
        <p:spPr>
          <a:xfrm>
            <a:off x="2441160" y="789120"/>
            <a:ext cx="6132960" cy="490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1"/>
          <p:cNvSpPr/>
          <p:nvPr/>
        </p:nvSpPr>
        <p:spPr>
          <a:xfrm>
            <a:off x="1234440" y="14616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Use Case Diagram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2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3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8" name="Picture 68"/>
          <p:cNvPicPr/>
          <p:nvPr/>
        </p:nvPicPr>
        <p:blipFill>
          <a:blip r:embed="rId1"/>
          <a:stretch/>
        </p:blipFill>
        <p:spPr>
          <a:xfrm>
            <a:off x="3009960" y="724680"/>
            <a:ext cx="3085560" cy="572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Picture 70"/>
          <p:cNvPicPr/>
          <p:nvPr/>
        </p:nvPicPr>
        <p:blipFill>
          <a:blip r:embed="rId2"/>
          <a:stretch/>
        </p:blipFill>
        <p:spPr>
          <a:xfrm>
            <a:off x="6914880" y="786240"/>
            <a:ext cx="2266560" cy="52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 1"/>
          <p:cNvSpPr/>
          <p:nvPr/>
        </p:nvSpPr>
        <p:spPr>
          <a:xfrm>
            <a:off x="502920" y="2376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Activity Diagram — Purchase Flow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5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46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Picture 49"/>
          <p:cNvPicPr/>
          <p:nvPr/>
        </p:nvPicPr>
        <p:blipFill>
          <a:blip r:embed="rId1"/>
          <a:stretch/>
        </p:blipFill>
        <p:spPr>
          <a:xfrm>
            <a:off x="4260600" y="716040"/>
            <a:ext cx="3450960" cy="614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 1"/>
          <p:cNvSpPr/>
          <p:nvPr/>
        </p:nvSpPr>
        <p:spPr>
          <a:xfrm>
            <a:off x="548640" y="640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Sequence Diagram — Checkout &amp; Payment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4572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4709160" y="1554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Express API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1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2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Picture 45"/>
          <p:cNvPicPr/>
          <p:nvPr/>
        </p:nvPicPr>
        <p:blipFill>
          <a:blip r:embed="rId1"/>
          <a:stretch/>
        </p:blipFill>
        <p:spPr>
          <a:xfrm>
            <a:off x="1915200" y="1085760"/>
            <a:ext cx="8669160" cy="4794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1"/>
          <p:cNvSpPr/>
          <p:nvPr/>
        </p:nvSpPr>
        <p:spPr>
          <a:xfrm>
            <a:off x="731520" y="1152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Class Diagram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"/>
          <p:cNvSpPr/>
          <p:nvPr/>
        </p:nvSpPr>
        <p:spPr>
          <a:xfrm>
            <a:off x="457200" y="15087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2926080" y="15087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Material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5394960" y="150876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Category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2"/>
          <p:cNvSpPr/>
          <p:nvPr/>
        </p:nvSpPr>
        <p:spPr>
          <a:xfrm>
            <a:off x="7680960" y="150876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8"/>
          <p:cNvSpPr/>
          <p:nvPr/>
        </p:nvSpPr>
        <p:spPr>
          <a:xfrm>
            <a:off x="9966960" y="150876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Notification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4"/>
          <p:cNvSpPr/>
          <p:nvPr/>
        </p:nvSpPr>
        <p:spPr>
          <a:xfrm>
            <a:off x="457200" y="370332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CartItem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0"/>
          <p:cNvSpPr/>
          <p:nvPr/>
        </p:nvSpPr>
        <p:spPr>
          <a:xfrm>
            <a:off x="2926080" y="37947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46"/>
          <p:cNvSpPr/>
          <p:nvPr/>
        </p:nvSpPr>
        <p:spPr>
          <a:xfrm>
            <a:off x="5394960" y="379476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OrderItem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2"/>
          <p:cNvSpPr/>
          <p:nvPr/>
        </p:nvSpPr>
        <p:spPr>
          <a:xfrm>
            <a:off x="7680960" y="3794760"/>
            <a:ext cx="1965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Payment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5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6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Picture 79"/>
          <p:cNvPicPr/>
          <p:nvPr/>
        </p:nvPicPr>
        <p:blipFill>
          <a:blip r:embed="rId1"/>
          <a:stretch/>
        </p:blipFill>
        <p:spPr>
          <a:xfrm>
            <a:off x="3291840" y="572760"/>
            <a:ext cx="6573960" cy="576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1"/>
          <p:cNvSpPr/>
          <p:nvPr/>
        </p:nvSpPr>
        <p:spPr>
          <a:xfrm>
            <a:off x="411480" y="96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Data Flow Diagram (DFD — Level 1)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3"/>
          <p:cNvSpPr/>
          <p:nvPr/>
        </p:nvSpPr>
        <p:spPr>
          <a:xfrm>
            <a:off x="457200" y="617220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External Entities = boxes  •  Processes = ellipses (numbered)  •  Data Stores = open rectangles (D1-D5)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4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55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58"/>
          <p:cNvPicPr/>
          <p:nvPr/>
        </p:nvPicPr>
        <p:blipFill>
          <a:blip r:embed="rId1"/>
          <a:stretch/>
        </p:blipFill>
        <p:spPr>
          <a:xfrm>
            <a:off x="2262240" y="657360"/>
            <a:ext cx="7667280" cy="5543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TEAM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Team Member Responsibilities (5 Members)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548640" y="155448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685800" y="1710000"/>
            <a:ext cx="1737000" cy="51156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685800" y="1710000"/>
            <a:ext cx="1737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Kushmi Kaushini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5"/>
          <p:cNvSpPr/>
          <p:nvPr/>
        </p:nvSpPr>
        <p:spPr>
          <a:xfrm>
            <a:off x="2651760" y="16459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User Authentication &amp; Profile Management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6"/>
          <p:cNvSpPr/>
          <p:nvPr/>
        </p:nvSpPr>
        <p:spPr>
          <a:xfrm>
            <a:off x="6355080" y="164592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Registration/login, JWT auth, role-based access (Student/Tutor/Admin), profile editing.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7"/>
          <p:cNvSpPr/>
          <p:nvPr/>
        </p:nvSpPr>
        <p:spPr>
          <a:xfrm>
            <a:off x="548640" y="248724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6" name="Shape 8"/>
          <p:cNvSpPr/>
          <p:nvPr/>
        </p:nvSpPr>
        <p:spPr>
          <a:xfrm>
            <a:off x="685800" y="2642760"/>
            <a:ext cx="1737000" cy="51156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 9"/>
          <p:cNvSpPr/>
          <p:nvPr/>
        </p:nvSpPr>
        <p:spPr>
          <a:xfrm>
            <a:off x="685800" y="2642760"/>
            <a:ext cx="1737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Vidula Dhanasekara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2651760" y="257868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Catalog, Search &amp; Filtering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6355080" y="257868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Material listing pages, categories/subjects, search and filter by grade, subject, price.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548640" y="34200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Shape 13"/>
          <p:cNvSpPr/>
          <p:nvPr/>
        </p:nvSpPr>
        <p:spPr>
          <a:xfrm>
            <a:off x="685800" y="3575160"/>
            <a:ext cx="1737000" cy="5115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 14"/>
          <p:cNvSpPr/>
          <p:nvPr/>
        </p:nvSpPr>
        <p:spPr>
          <a:xfrm>
            <a:off x="685800" y="3575160"/>
            <a:ext cx="1737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Bhanuka Heshan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5"/>
          <p:cNvSpPr/>
          <p:nvPr/>
        </p:nvSpPr>
        <p:spPr>
          <a:xfrm>
            <a:off x="2651760" y="35114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Shopping Cart &amp; Checkout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6355080" y="351144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Cart management, checkout flow, order summary, delivery details for physical items.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7"/>
          <p:cNvSpPr/>
          <p:nvPr/>
        </p:nvSpPr>
        <p:spPr>
          <a:xfrm>
            <a:off x="548640" y="435240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685800" y="4507920"/>
            <a:ext cx="1737000" cy="5115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 19"/>
          <p:cNvSpPr/>
          <p:nvPr/>
        </p:nvSpPr>
        <p:spPr>
          <a:xfrm>
            <a:off x="685800" y="4507920"/>
            <a:ext cx="1737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Charuka Mayura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0"/>
          <p:cNvSpPr/>
          <p:nvPr/>
        </p:nvSpPr>
        <p:spPr>
          <a:xfrm>
            <a:off x="2651760" y="444384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Payment Gateway &amp; Order Management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6355080" y="444384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Payment integration, order status tracking, invoices, purchase history.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2"/>
          <p:cNvSpPr/>
          <p:nvPr/>
        </p:nvSpPr>
        <p:spPr>
          <a:xfrm>
            <a:off x="548640" y="5285160"/>
            <a:ext cx="11063880" cy="822600"/>
          </a:xfrm>
          <a:prstGeom prst="roundRect">
            <a:avLst>
              <a:gd name="adj" fmla="val 8889"/>
            </a:avLst>
          </a:prstGeom>
          <a:solidFill>
            <a:srgbClr val="F5F4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1" name="Shape 23"/>
          <p:cNvSpPr/>
          <p:nvPr/>
        </p:nvSpPr>
        <p:spPr>
          <a:xfrm>
            <a:off x="685800" y="5440680"/>
            <a:ext cx="1737000" cy="51156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 24"/>
          <p:cNvSpPr/>
          <p:nvPr/>
        </p:nvSpPr>
        <p:spPr>
          <a:xfrm>
            <a:off x="685800" y="5440680"/>
            <a:ext cx="1737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Malki Madushi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5"/>
          <p:cNvSpPr/>
          <p:nvPr/>
        </p:nvSpPr>
        <p:spPr>
          <a:xfrm>
            <a:off x="2651760" y="537660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Admin Dashboard, Reviews &amp; Notifications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6"/>
          <p:cNvSpPr/>
          <p:nvPr/>
        </p:nvSpPr>
        <p:spPr>
          <a:xfrm>
            <a:off x="6355080" y="537660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Admin panel for approvals/reports, review &amp; rating system, email/SMS notifications.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7"/>
          <p:cNvSpPr/>
          <p:nvPr/>
        </p:nvSpPr>
        <p:spPr>
          <a:xfrm>
            <a:off x="548640" y="63550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Note: Assign actual member names before the presentation — module ownership above matches each individual contribution requirement.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8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9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54864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TIMELINE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548640" y="6584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Tentative Development Schedule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780480" y="3360960"/>
            <a:ext cx="10419120" cy="360"/>
          </a:xfrm>
          <a:prstGeom prst="line">
            <a:avLst/>
          </a:prstGeom>
          <a:ln w="2540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701640" y="3282120"/>
            <a:ext cx="157320" cy="15732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780480" y="3186000"/>
            <a:ext cx="360" cy="1749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131400" y="1828800"/>
            <a:ext cx="1737000" cy="1416960"/>
          </a:xfrm>
          <a:prstGeom prst="roundRect">
            <a:avLst>
              <a:gd name="adj" fmla="val 5161"/>
            </a:avLst>
          </a:prstGeom>
          <a:solidFill>
            <a:srgbClr val="F5F4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 7"/>
          <p:cNvSpPr/>
          <p:nvPr/>
        </p:nvSpPr>
        <p:spPr>
          <a:xfrm>
            <a:off x="69120" y="221292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Planning &amp; Design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8"/>
          <p:cNvSpPr/>
          <p:nvPr/>
        </p:nvSpPr>
        <p:spPr>
          <a:xfrm>
            <a:off x="141120" y="2670120"/>
            <a:ext cx="1645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Requirements, ERD, wireframes, tech setup, GitHub repo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9"/>
          <p:cNvSpPr/>
          <p:nvPr/>
        </p:nvSpPr>
        <p:spPr>
          <a:xfrm>
            <a:off x="2785680" y="3282120"/>
            <a:ext cx="157320" cy="15732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Shape 10"/>
          <p:cNvSpPr/>
          <p:nvPr/>
        </p:nvSpPr>
        <p:spPr>
          <a:xfrm>
            <a:off x="2864520" y="3360960"/>
            <a:ext cx="0" cy="17532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Shape 11"/>
          <p:cNvSpPr/>
          <p:nvPr/>
        </p:nvSpPr>
        <p:spPr>
          <a:xfrm>
            <a:off x="2032560" y="3711240"/>
            <a:ext cx="1663200" cy="1356840"/>
          </a:xfrm>
          <a:prstGeom prst="roundRect">
            <a:avLst>
              <a:gd name="adj" fmla="val 5161"/>
            </a:avLst>
          </a:prstGeom>
          <a:solidFill>
            <a:srgbClr val="F5F4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2076480" y="4079160"/>
            <a:ext cx="15753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Core Modules 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2076480" y="4516920"/>
            <a:ext cx="157536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Auth, catalog, search/filter — individual module development begins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5"/>
          <p:cNvSpPr/>
          <p:nvPr/>
        </p:nvSpPr>
        <p:spPr>
          <a:xfrm>
            <a:off x="4869360" y="3282120"/>
            <a:ext cx="157320" cy="15732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Shape 16"/>
          <p:cNvSpPr/>
          <p:nvPr/>
        </p:nvSpPr>
        <p:spPr>
          <a:xfrm>
            <a:off x="4948200" y="3186000"/>
            <a:ext cx="360" cy="1749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3" name="Shape 17"/>
          <p:cNvSpPr/>
          <p:nvPr/>
        </p:nvSpPr>
        <p:spPr>
          <a:xfrm>
            <a:off x="4116240" y="1828800"/>
            <a:ext cx="1663200" cy="1356840"/>
          </a:xfrm>
          <a:prstGeom prst="roundRect">
            <a:avLst>
              <a:gd name="adj" fmla="val 5161"/>
            </a:avLst>
          </a:prstGeom>
          <a:solidFill>
            <a:srgbClr val="F5F4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4160160" y="2196720"/>
            <a:ext cx="15757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Core Modules II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0"/>
          <p:cNvSpPr/>
          <p:nvPr/>
        </p:nvSpPr>
        <p:spPr>
          <a:xfrm>
            <a:off x="4160160" y="2634480"/>
            <a:ext cx="157572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Cart, checkout, payment integration, order management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1"/>
          <p:cNvSpPr/>
          <p:nvPr/>
        </p:nvSpPr>
        <p:spPr>
          <a:xfrm>
            <a:off x="6953400" y="3282120"/>
            <a:ext cx="156960" cy="15732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Shape 22"/>
          <p:cNvSpPr/>
          <p:nvPr/>
        </p:nvSpPr>
        <p:spPr>
          <a:xfrm>
            <a:off x="7031880" y="3360960"/>
            <a:ext cx="360" cy="17532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Shape 23"/>
          <p:cNvSpPr/>
          <p:nvPr/>
        </p:nvSpPr>
        <p:spPr>
          <a:xfrm>
            <a:off x="6200280" y="3711240"/>
            <a:ext cx="1663560" cy="1356840"/>
          </a:xfrm>
          <a:prstGeom prst="roundRect">
            <a:avLst>
              <a:gd name="adj" fmla="val 5161"/>
            </a:avLst>
          </a:prstGeom>
          <a:solidFill>
            <a:srgbClr val="F5F4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 24"/>
          <p:cNvSpPr/>
          <p:nvPr/>
        </p:nvSpPr>
        <p:spPr>
          <a:xfrm>
            <a:off x="6200280" y="3798720"/>
            <a:ext cx="166356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5"/>
          <p:cNvSpPr/>
          <p:nvPr/>
        </p:nvSpPr>
        <p:spPr>
          <a:xfrm>
            <a:off x="6244200" y="4079160"/>
            <a:ext cx="15757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Admin &amp; Extras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6"/>
          <p:cNvSpPr/>
          <p:nvPr/>
        </p:nvSpPr>
        <p:spPr>
          <a:xfrm>
            <a:off x="6244200" y="4516920"/>
            <a:ext cx="157572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Admin dashboard, reviews, notifications, recommendations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7"/>
          <p:cNvSpPr/>
          <p:nvPr/>
        </p:nvSpPr>
        <p:spPr>
          <a:xfrm>
            <a:off x="9037080" y="3282120"/>
            <a:ext cx="157320" cy="15732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9115560" y="3186000"/>
            <a:ext cx="360" cy="17496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Shape 29"/>
          <p:cNvSpPr/>
          <p:nvPr/>
        </p:nvSpPr>
        <p:spPr>
          <a:xfrm>
            <a:off x="8284320" y="1828800"/>
            <a:ext cx="1663200" cy="1356840"/>
          </a:xfrm>
          <a:prstGeom prst="roundRect">
            <a:avLst>
              <a:gd name="adj" fmla="val 5161"/>
            </a:avLst>
          </a:prstGeom>
          <a:solidFill>
            <a:srgbClr val="F5F4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 31"/>
          <p:cNvSpPr/>
          <p:nvPr/>
        </p:nvSpPr>
        <p:spPr>
          <a:xfrm>
            <a:off x="8327880" y="2196720"/>
            <a:ext cx="157572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Integration &amp; Testing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2"/>
          <p:cNvSpPr/>
          <p:nvPr/>
        </p:nvSpPr>
        <p:spPr>
          <a:xfrm>
            <a:off x="8327880" y="2634480"/>
            <a:ext cx="157572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Merge modules, end-to-end testing, bug fixing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33"/>
          <p:cNvSpPr/>
          <p:nvPr/>
        </p:nvSpPr>
        <p:spPr>
          <a:xfrm>
            <a:off x="11120760" y="3282120"/>
            <a:ext cx="157320" cy="157320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8" name="Shape 34"/>
          <p:cNvSpPr/>
          <p:nvPr/>
        </p:nvSpPr>
        <p:spPr>
          <a:xfrm>
            <a:off x="11199600" y="3360960"/>
            <a:ext cx="360" cy="175320"/>
          </a:xfrm>
          <a:prstGeom prst="line">
            <a:avLst/>
          </a:prstGeom>
          <a:ln w="19050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Shape 35"/>
          <p:cNvSpPr/>
          <p:nvPr/>
        </p:nvSpPr>
        <p:spPr>
          <a:xfrm>
            <a:off x="10368000" y="3711240"/>
            <a:ext cx="1663200" cy="1356840"/>
          </a:xfrm>
          <a:prstGeom prst="roundRect">
            <a:avLst>
              <a:gd name="adj" fmla="val 5161"/>
            </a:avLst>
          </a:prstGeom>
          <a:solidFill>
            <a:srgbClr val="F5F4FF"/>
          </a:solidFill>
          <a:ln w="12700">
            <a:solidFill>
              <a:srgbClr val="4338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 37"/>
          <p:cNvSpPr/>
          <p:nvPr/>
        </p:nvSpPr>
        <p:spPr>
          <a:xfrm>
            <a:off x="10411920" y="4079160"/>
            <a:ext cx="157536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E1B4B"/>
                </a:solidFill>
                <a:effectLst/>
                <a:uFillTx/>
                <a:latin typeface="Calibri"/>
                <a:ea typeface="Calibri"/>
              </a:rPr>
              <a:t>Deployment &amp; Demo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38"/>
          <p:cNvSpPr/>
          <p:nvPr/>
        </p:nvSpPr>
        <p:spPr>
          <a:xfrm>
            <a:off x="10411920" y="4516920"/>
            <a:ext cx="1575360" cy="52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Final deployment, documentation, presentation prep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39"/>
          <p:cNvSpPr/>
          <p:nvPr/>
        </p:nvSpPr>
        <p:spPr>
          <a:xfrm>
            <a:off x="54864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99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EDUMART  |  ONLINE LEARNING MATERIAL STORE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0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338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-1828800" y="-2286000"/>
            <a:ext cx="6400440" cy="6400440"/>
          </a:xfrm>
          <a:prstGeom prst="ellipse">
            <a:avLst/>
          </a:prstGeom>
          <a:solidFill>
            <a:srgbClr val="6D28D9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5" name="Shape 1"/>
          <p:cNvSpPr/>
          <p:nvPr/>
        </p:nvSpPr>
        <p:spPr>
          <a:xfrm>
            <a:off x="9144000" y="3657600"/>
            <a:ext cx="5486040" cy="5486040"/>
          </a:xfrm>
          <a:prstGeom prst="ellipse">
            <a:avLst/>
          </a:prstGeom>
          <a:solidFill>
            <a:srgbClr val="F59E0B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777240" y="25603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822960" y="3429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0E7FF"/>
                </a:solidFill>
                <a:effectLst/>
                <a:uFillTx/>
                <a:latin typeface="Calibri"/>
                <a:ea typeface="Calibri"/>
              </a:rPr>
              <a:t>EduMart — bringing every learning resource, and every student, onto one trusted platform.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"/>
          <p:cNvSpPr/>
          <p:nvPr/>
        </p:nvSpPr>
        <p:spPr>
          <a:xfrm>
            <a:off x="822960" y="4206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7D2FE"/>
                </a:solidFill>
                <a:effectLst/>
                <a:uFillTx/>
                <a:latin typeface="Calibri"/>
                <a:ea typeface="Calibri"/>
              </a:rPr>
              <a:t>Group Size: 5  •  React.js + Node.js/Express + MySQL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6"/>
          <p:cNvSpPr/>
          <p:nvPr/>
        </p:nvSpPr>
        <p:spPr>
          <a:xfrm>
            <a:off x="11521440" y="6446520"/>
            <a:ext cx="548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LibreOffice/26.2.4.2$Linux_X86_64 LibreOffice_project/3346a99e6b841765b75a9b29714a5b95c6761ce3</Application>
  <AppVersion>15.0000</AppVersion>
  <Words>1426</Words>
  <Paragraphs>259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2026-07-23T03:30:35Z</dcterms:created>
  <dc:creator>PptxGenJS</dc:creator>
  <dc:description/>
  <dc:language>en-US</dc:language>
  <cp:lastModifiedBy/>
  <dcterms:modified xsi:type="dcterms:W3CDTF">2026-07-26T20:40:45Z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Widescreen</vt:lpwstr>
  </property>
  <property fmtid="{D5CDD505-2E9C-101B-9397-08002B2CF9AE}" pid="4" name="Slides">
    <vt:i4>18</vt:i4>
  </property>
</Properties>
</file>